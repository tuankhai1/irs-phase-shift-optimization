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508760"/>
            <a:ext cx="1051560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5000" b="1">
                <a:solidFill>
                  <a:srgbClr val="121212"/>
                </a:solidFill>
                <a:latin typeface="Arial"/>
              </a:rPr>
              <a:t>Tối ưu tham số linh kiện 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331720"/>
            <a:ext cx="960120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0">
                <a:solidFill>
                  <a:srgbClr val="5C6068"/>
                </a:solidFill>
                <a:latin typeface="Arial"/>
              </a:rPr>
              <a:t>Tối đa hóa tốc độ truyền dữ liệu với mô hình phản xạ thực tế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840480"/>
            <a:ext cx="10835640" cy="114300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87952"/>
            <a:ext cx="101498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500" b="1">
                <a:solidFill>
                  <a:srgbClr val="2D7DF6"/>
                </a:solidFill>
                <a:latin typeface="Arial"/>
              </a:rPr>
              <a:t>Chuỗi tối ưu:  L1,n, L2,n, Cn, Rn  →  Zn  →  vn  →  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Bài toán không chỉ là chọn pha phản xạ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Tối ưu linh kiện cho phép mô hình hóa đúng ràng buộc phần cứng của IRS.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3200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Arial"/>
              </a:rPr>
              <a:t>Câu hỏi trung tâm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4160520" cy="11430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21212"/>
                </a:solidFill>
                <a:latin typeface="Arial"/>
              </a:rPr>
              <a:t>Làm thế nào chọn linh kiện của từng phần tử IRS để cực đại tốc độ truyền dữ liệu?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417320"/>
            <a:ext cx="6263640" cy="434340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8470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1828800"/>
            <a:ext cx="523951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0">
                <a:solidFill>
                  <a:srgbClr val="121212"/>
                </a:solidFill>
                <a:latin typeface="Arial"/>
              </a:rPr>
              <a:t>Mô hình lý tưởng giả sử |vn| = 1 nên chỉ cần chỉnh pha.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3042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286000"/>
            <a:ext cx="523951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0">
                <a:solidFill>
                  <a:srgbClr val="121212"/>
                </a:solidFill>
                <a:latin typeface="Arial"/>
              </a:rPr>
              <a:t>Mô hình thực tế có suy hao biên độ phụ thuộc pha.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7614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743200"/>
            <a:ext cx="523951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0">
                <a:solidFill>
                  <a:srgbClr val="121212"/>
                </a:solidFill>
                <a:latin typeface="Arial"/>
              </a:rPr>
              <a:t>Tối ưu trực tiếp linh kiện tạo nghiệm khả thi với mạch IRS.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218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3200400"/>
            <a:ext cx="523951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0">
                <a:solidFill>
                  <a:srgbClr val="121212"/>
                </a:solidFill>
                <a:latin typeface="Arial"/>
              </a:rPr>
              <a:t>Đánh giá bằng tốc độ truyền đạt được RSE.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Mỗi nghiệm ứng viên là một vector 4N biến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Thuật toán tìm kiếm trong không gian linh kiện thay vì không gian pha.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91440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42416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2D7DF6"/>
                </a:solidFill>
                <a:latin typeface="Arial"/>
              </a:rPr>
              <a:t>x = [L1,1, L2,1, C1, R1, ..., L1,N, L2,N, CN, RN]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788920"/>
          <a:ext cx="64465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</a:tblGrid>
              <a:tr h="48463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Biến</a:t>
                      </a:r>
                    </a:p>
                  </a:txBody>
                  <a:tcPr marL="54864" marR="54864" marT="27432" marB="27432">
                    <a:solidFill>
                      <a:srgbClr val="2D7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Ý nghĩa</a:t>
                      </a:r>
                    </a:p>
                  </a:txBody>
                  <a:tcPr marL="54864" marR="54864" marT="27432" marB="27432">
                    <a:solidFill>
                      <a:srgbClr val="2D7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Miền giá trị</a:t>
                      </a:r>
                    </a:p>
                  </a:txBody>
                  <a:tcPr marL="54864" marR="54864" marT="27432" marB="27432">
                    <a:solidFill>
                      <a:srgbClr val="2D7DF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L1,n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Coupling inductance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0.5 - 5.0 nH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L2,n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Varactor series inductance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0.1 - 3.0 nH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Cn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Varactor capacitance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0.1 - 5.0 pF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Rn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Series resistance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21212"/>
                          </a:solidFill>
                          <a:latin typeface="Arial"/>
                        </a:rPr>
                        <a:t>0.5 - 5.0 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2788920"/>
            <a:ext cx="3429000" cy="242316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035808"/>
            <a:ext cx="292608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1">
                <a:solidFill>
                  <a:srgbClr val="121212"/>
                </a:solidFill>
                <a:latin typeface="Arial"/>
              </a:rPr>
              <a:t>Ràng buộc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520440"/>
            <a:ext cx="2926080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0">
                <a:solidFill>
                  <a:srgbClr val="121212"/>
                </a:solidFill>
                <a:latin typeface="Arial"/>
              </a:rPr>
              <a:t>Tất cả biến được chặn trong miền vật lý. Khi thuật toán cập nhật vượt biên, nghiệm được đưa về giá trị gần nhất trong miền cho phép.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09160"/>
            <a:ext cx="28346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f = 5.8 GHz,  ω = 2πf,  Z0 = 377 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Từ linh kiện sang hệ số phản xạ của phần tử 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Trở kháng Zn là cầu nối giữa thiết kế mạch và tín hiệu phản xạ.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12080" cy="1874519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75104"/>
            <a:ext cx="46634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100" b="1">
                <a:solidFill>
                  <a:srgbClr val="2D7DF6"/>
                </a:solidFill>
                <a:latin typeface="Arial"/>
              </a:rPr>
              <a:t>Zn = jωL1,n (jωL2,n + 1/(jωCn) + Rn)</a:t>
            </a:r>
            <a:br/>
            <a:r>
              <a:rPr sz="2100" b="1">
                <a:solidFill>
                  <a:srgbClr val="2D7DF6"/>
                </a:solidFill>
                <a:latin typeface="Arial"/>
              </a:rPr>
              <a:t>     / (jωL1,n + jωL2,n + 1/(jωCn) + Rn)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54480"/>
            <a:ext cx="5120640" cy="1874519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57200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300" b="1">
                <a:solidFill>
                  <a:srgbClr val="00ACC1"/>
                </a:solidFill>
                <a:latin typeface="Arial"/>
              </a:rPr>
              <a:t>vn = (Zn - Z0) / (Zn + Z0)</a:t>
            </a:r>
            <a:br/>
            <a:r>
              <a:rPr sz="2300" b="1">
                <a:solidFill>
                  <a:srgbClr val="00ACC1"/>
                </a:solidFill>
                <a:latin typeface="Arial"/>
              </a:rPr>
              <a:t>|vn| = βn,     angle(vn) = θn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044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886200"/>
            <a:ext cx="999439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0">
                <a:solidFill>
                  <a:srgbClr val="121212"/>
                </a:solidFill>
                <a:latin typeface="Arial"/>
              </a:rPr>
              <a:t>L2,n và Cn điều chỉnh phần phản kháng nên ảnh hưởng mạnh tới pha.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61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343400"/>
            <a:ext cx="999439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0">
                <a:solidFill>
                  <a:srgbClr val="121212"/>
                </a:solidFill>
                <a:latin typeface="Arial"/>
              </a:rPr>
              <a:t>Rn biểu diễn tổn hao, làm giảm biên độ phản xạ.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188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800600"/>
            <a:ext cx="999439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0">
                <a:solidFill>
                  <a:srgbClr val="121212"/>
                </a:solidFill>
                <a:latin typeface="Arial"/>
              </a:rPr>
              <a:t>Một thay đổi linh kiện có thể làm đổi đồng thời βn và θn.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Fitness của thuật toán là tốc độ truyền đạt được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Mỗi nghiệm linh kiện được chuyển thành vn trước khi tính 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10835640" cy="114300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700" b="1">
                <a:solidFill>
                  <a:srgbClr val="2D7DF6"/>
                </a:solidFill>
                <a:latin typeface="Arial"/>
              </a:rPr>
              <a:t>RSE = log2(1 + PT ||vᴴΦ + hdᴴ||² / σ²)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74320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Arial"/>
              </a:rPr>
              <a:t>Bài toán tối ưu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480060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0">
                <a:solidFill>
                  <a:srgbClr val="121212"/>
                </a:solidFill>
                <a:latin typeface="Arial"/>
              </a:rPr>
              <a:t>maximize_x  RSE(x)</a:t>
            </a:r>
            <a:br/>
            <a:r>
              <a:rPr sz="2100" b="0">
                <a:solidFill>
                  <a:srgbClr val="121212"/>
                </a:solidFill>
                <a:latin typeface="Arial"/>
              </a:rPr>
              <a:t>subject to physical bounds of L1,n, L2,n, Cn,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154680"/>
            <a:ext cx="32918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Arial"/>
              </a:rPr>
              <a:t>Các đường so sánh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63016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3611880"/>
            <a:ext cx="478231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0">
                <a:solidFill>
                  <a:srgbClr val="121212"/>
                </a:solidFill>
                <a:latin typeface="Arial"/>
              </a:rPr>
              <a:t>Upper bound: IRS lý tưởng.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08736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4069080"/>
            <a:ext cx="478231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0">
                <a:solidFill>
                  <a:srgbClr val="121212"/>
                </a:solidFill>
                <a:latin typeface="Arial"/>
              </a:rPr>
              <a:t>AO practical: tối ưu pha theo mô hình tương đương.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54456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4526280"/>
            <a:ext cx="478231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0">
                <a:solidFill>
                  <a:srgbClr val="121212"/>
                </a:solidFill>
                <a:latin typeface="Arial"/>
              </a:rPr>
              <a:t>Component-level: tối ưu trực tiếp L1, L2, C, 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00176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4983480"/>
            <a:ext cx="478231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0">
                <a:solidFill>
                  <a:srgbClr val="121212"/>
                </a:solidFill>
                <a:latin typeface="Arial"/>
              </a:rPr>
              <a:t>Lower bound: không dùng IRS.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GWO component-level là lựa chọn chính cho chất lượng nghiệm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PSO nhẹ hơn, nhưng GWO đạt tốc độ truyền cao hơn trong các kết quả mô phỏng.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429000" cy="420624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1">
                <a:solidFill>
                  <a:srgbClr val="121212"/>
                </a:solidFill>
                <a:latin typeface="Arial"/>
              </a:rPr>
              <a:t>Vì sao dùng GWO?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331720"/>
            <a:ext cx="25877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0">
                <a:solidFill>
                  <a:srgbClr val="121212"/>
                </a:solidFill>
                <a:latin typeface="Arial"/>
              </a:rPr>
              <a:t>Không cần gradient.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88920"/>
            <a:ext cx="25877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0">
                <a:solidFill>
                  <a:srgbClr val="121212"/>
                </a:solidFill>
                <a:latin typeface="Arial"/>
              </a:rPr>
              <a:t>Phù hợp bài toán phi lồi.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6440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246120"/>
            <a:ext cx="25877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0">
                <a:solidFill>
                  <a:srgbClr val="121212"/>
                </a:solidFill>
                <a:latin typeface="Arial"/>
              </a:rPr>
              <a:t>Xử lý trực tiếp ràng buộc hộp.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2160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703320"/>
            <a:ext cx="25877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0">
                <a:solidFill>
                  <a:srgbClr val="121212"/>
                </a:solidFill>
                <a:latin typeface="Arial"/>
              </a:rPr>
              <a:t>Tìm kiếm tốt trong không gian 4N biến.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463040"/>
            <a:ext cx="3429000" cy="420624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783080"/>
            <a:ext cx="29260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1">
                <a:solidFill>
                  <a:srgbClr val="121212"/>
                </a:solidFill>
                <a:latin typeface="Arial"/>
              </a:rPr>
              <a:t>Cơ chế GWO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31720"/>
            <a:ext cx="2834640" cy="2240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0">
                <a:solidFill>
                  <a:srgbClr val="121212"/>
                </a:solidFill>
                <a:latin typeface="Arial"/>
              </a:rPr>
              <a:t>Ba nghiệm tốt nhất α, β, δ dẫn hướng quần thể.</a:t>
            </a:r>
            <a:br/>
            <a:br/>
            <a:r>
              <a:rPr sz="1800" b="0">
                <a:solidFill>
                  <a:srgbClr val="121212"/>
                </a:solidFill>
                <a:latin typeface="Arial"/>
              </a:rPr>
              <a:t>Tham số a giảm từ 2 về 0: đầu quá trình ưu tiên exploration, cuối quá trình ưu tiên exploitation.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463040"/>
            <a:ext cx="3337560" cy="420624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783080"/>
            <a:ext cx="27432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1">
                <a:solidFill>
                  <a:srgbClr val="121212"/>
                </a:solidFill>
                <a:latin typeface="Arial"/>
              </a:rPr>
              <a:t>Kết luận chọn thuật toán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31720"/>
            <a:ext cx="2743200" cy="1645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0">
                <a:solidFill>
                  <a:srgbClr val="121212"/>
                </a:solidFill>
                <a:latin typeface="Arial"/>
              </a:rPr>
              <a:t>Dùng GWO khi cần hiệu năng cao nhất; dùng PSO khi muốn giảm thời gian chạy. Hybrid PSO-GWO có thể cải thiện thêm ở một số cấu hình.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Fig. 5: AO thực tế bám sát xu hướng upper bound theo khoảng cách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Tốc độ tăng mạnh khi user tiến gần IRS; mô hình lý tưởng vẫn là trần hiệu năng.</a:t>
            </a:r>
          </a:p>
        </p:txBody>
      </p:sp>
      <p:pic>
        <p:nvPicPr>
          <p:cNvPr id="5" name="Picture 4" descr="fig5_rate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88" y="1417320"/>
            <a:ext cx="6765143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3063240" cy="27889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27632"/>
            <a:ext cx="26517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21212"/>
                </a:solidFill>
                <a:latin typeface="Arial"/>
              </a:rPr>
              <a:t>Ý nghĩa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75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0574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AO practical cao hơn lower bound rõ rệt.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328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5146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Ideal design khi đánh giá thực tế bị mất hiệu năng.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9900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9718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Tại d = 500 m, upper bound đạt khoảng 4.55 bit/s/Hz.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43A047"/>
                </a:solidFill>
                <a:latin typeface="Arial"/>
              </a:rPr>
              <a:t>3.46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AO practical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5C6068"/>
                </a:solidFill>
                <a:latin typeface="Arial"/>
              </a:rPr>
              <a:t>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No 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Fig. 6: Tăng số phần tử IRS giúp tăng tốc độ truyền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N lớn hơn tạo thêm bậc tự do phản xạ, nhưng vẫn chịu giới hạn phần cứng thực tế.</a:t>
            </a:r>
          </a:p>
        </p:txBody>
      </p:sp>
      <p:pic>
        <p:nvPicPr>
          <p:cNvPr id="5" name="Picture 4" descr="fig6_rate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26" y="1417320"/>
            <a:ext cx="6778267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3063240" cy="27889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27632"/>
            <a:ext cx="26517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21212"/>
                </a:solidFill>
                <a:latin typeface="Arial"/>
              </a:rPr>
              <a:t>Ý nghĩa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75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0574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Upper bound tăng từ 1.01 lên 5.01 bit/s/Hz.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328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5146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AO practical tăng từ 0.66 lên 3.84 bit/s/Hz.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9900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9718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Lower bound gần như không đổi vì không dùng IRS.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43A047"/>
                </a:solidFill>
                <a:latin typeface="Arial"/>
              </a:rPr>
              <a:t>3.84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N = 80 AO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E53935"/>
                </a:solidFill>
                <a:latin typeface="Arial"/>
              </a:rPr>
              <a:t>5.01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N = 80 ideal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Fig. 7: Lượng tử pha càng mịn thì hiệu năng càng tốt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Rời rạc pha làm giảm hiệu năng; tăng số bit pha giúp tiến gần mô hình liên tục hơn.</a:t>
            </a:r>
          </a:p>
        </p:txBody>
      </p:sp>
      <p:pic>
        <p:nvPicPr>
          <p:cNvPr id="5" name="Picture 4" descr="fig7_discrete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10" y="1417320"/>
            <a:ext cx="6771699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3063240" cy="27889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27632"/>
            <a:ext cx="26517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21212"/>
                </a:solidFill>
                <a:latin typeface="Arial"/>
              </a:rPr>
              <a:t>Ý nghĩa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75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0574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b = 3 tốt hơn b = 1 và b =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328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5146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Khoảng cách với upper bound vẫn tồn tại do suy hao thực tế.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9900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9718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Hiệu ứng rõ nhất khi user gần IRS.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43A047"/>
                </a:solidFill>
                <a:latin typeface="Arial"/>
              </a:rPr>
              <a:t>2.21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Practical b=3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2D7DF6"/>
                </a:solidFill>
                <a:latin typeface="Arial"/>
              </a:rPr>
              <a:t>2.92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Ideal b=3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Fig. 8: Tối ưu linh kiện có thể vượt AO tối ưu pha thực tế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GWO component-level khai thác miền linh kiện tốt hơn khi khoảng cách thuận lợi.</a:t>
            </a:r>
          </a:p>
        </p:txBody>
      </p:sp>
      <p:pic>
        <p:nvPicPr>
          <p:cNvPr id="5" name="Picture 4" descr="fig8_component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88" y="1417320"/>
            <a:ext cx="6765143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3063240" cy="27889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27632"/>
            <a:ext cx="26517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21212"/>
                </a:solidFill>
                <a:latin typeface="Arial"/>
              </a:rPr>
              <a:t>Ý nghĩa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75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0574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GWO component gần upper bound hơn PSO.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328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5146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PSO component vẫn vượt AO tại các điểm d lớn.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9900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9718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Tại d = 500 m, GWO đạt khoảng 4.00 bit/s/Hz.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00ACC1"/>
                </a:solidFill>
                <a:latin typeface="Arial"/>
              </a:rPr>
              <a:t>4.00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GWO comp.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43A047"/>
                </a:solidFill>
                <a:latin typeface="Arial"/>
              </a:rPr>
              <a:t>3.42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AO practical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Fig. 9: Khi N tăng, lợi thế của tối ưu linh kiện rõ hơn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Không gian 4N biến lớn hơn, nhưng cũng cho phép điều chỉnh phản xạ linh hoạt hơn.</a:t>
            </a:r>
          </a:p>
        </p:txBody>
      </p:sp>
      <p:pic>
        <p:nvPicPr>
          <p:cNvPr id="5" name="Picture 4" descr="fig9_component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26" y="1417320"/>
            <a:ext cx="6778267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3063240" cy="27889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27632"/>
            <a:ext cx="26517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21212"/>
                </a:solidFill>
                <a:latin typeface="Arial"/>
              </a:rPr>
              <a:t>Ý nghĩa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75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0574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GWO component đạt 4.13 bit/s/Hz tại N = 80.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328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5146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PSO component đạt 3.72 bit/s/Hz tại N = 80.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9900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9718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AO practical đạt 3.82 bit/s/Hz tại N = 80.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00ACC1"/>
                </a:solidFill>
                <a:latin typeface="Arial"/>
              </a:rPr>
              <a:t>4.13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GWO N=80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E53935"/>
                </a:solidFill>
                <a:latin typeface="Arial"/>
              </a:rPr>
              <a:t>5.00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Upper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Fig. 10: GWO hội tụ tới nghiệm tốt hơn PSO/APSO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Đường hội tụ cho thấy GWO tiếp tục cải thiện sau khi PSO gần bão hòa.</a:t>
            </a:r>
          </a:p>
        </p:txBody>
      </p:sp>
      <p:pic>
        <p:nvPicPr>
          <p:cNvPr id="5" name="Picture 4" descr="fig10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973" y="1417320"/>
            <a:ext cx="6762572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3063240" cy="27889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27632"/>
            <a:ext cx="26517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21212"/>
                </a:solidFill>
                <a:latin typeface="Arial"/>
              </a:rPr>
              <a:t>Ý nghĩa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75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0574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PSO tăng nhanh nhưng chững lại sớm hơn.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328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5146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APSO không vượt PSO trong cấu hình này.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9900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9718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GWO đạt giá trị cuối cao nhất.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00ACC1"/>
                </a:solidFill>
                <a:latin typeface="Arial"/>
              </a:rPr>
              <a:t>2.81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GWO final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8E24AA"/>
                </a:solidFill>
                <a:latin typeface="Arial"/>
              </a:rPr>
              <a:t>2.48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PSO 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Fig. 11: Hybrid PSO-GWO cải thiện nhẹ so với GWO thuần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Kết hợp khởi tạo/tìm kiếm giúp tiến gần upper bound hơn ở nhiều điểm khoảng cách.</a:t>
            </a:r>
          </a:p>
        </p:txBody>
      </p:sp>
      <p:pic>
        <p:nvPicPr>
          <p:cNvPr id="5" name="Picture 4" descr="fig11_phase_vs_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88" y="1417320"/>
            <a:ext cx="6765143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3063240" cy="27889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27632"/>
            <a:ext cx="26517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21212"/>
                </a:solidFill>
                <a:latin typeface="Arial"/>
              </a:rPr>
              <a:t>Ý nghĩa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75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0574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Hybrid PSO-GWO đạt 4.06 bit/s/Hz tại d = 500 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328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5146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GWO component đạt 4.00 bit/s/Hz.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9900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9718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PSO component thấp hơn nhưng chạy nhanh hơn.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43A047"/>
                </a:solidFill>
                <a:latin typeface="Arial"/>
              </a:rPr>
              <a:t>4.06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Hybrid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00ACC1"/>
                </a:solidFill>
                <a:latin typeface="Arial"/>
              </a:rPr>
              <a:t>4.00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GWO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Fig. 12: Cn là tham số then chốt trong tối ưu linh kiện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Cố định C và R làm tốc độ giảm mạnh; chỉ cố định R gây mất mát nhỏ hơn.</a:t>
            </a:r>
          </a:p>
        </p:txBody>
      </p:sp>
      <p:pic>
        <p:nvPicPr>
          <p:cNvPr id="5" name="Picture 4" descr="fig12_fixed_component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88" y="1417320"/>
            <a:ext cx="6765143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3063240" cy="27889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27632"/>
            <a:ext cx="26517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21212"/>
                </a:solidFill>
                <a:latin typeface="Arial"/>
              </a:rPr>
              <a:t>Ý nghĩa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75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0574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Full optimization đạt 3.55 bit/s/Hz tại d = 500 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5328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5146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Fix R chỉ giảm xuống 3.46 bit/s/Hz.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9900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971800"/>
            <a:ext cx="235915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121212"/>
                </a:solidFill>
                <a:latin typeface="Arial"/>
              </a:rPr>
              <a:t>Fix C,R giảm còn 1.71 bit/s/Hz.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8E24AA"/>
                </a:solidFill>
                <a:latin typeface="Arial"/>
              </a:rPr>
              <a:t>3.55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Full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4434840"/>
            <a:ext cx="1417320" cy="9601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4544568"/>
            <a:ext cx="1088136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43A047"/>
                </a:solidFill>
                <a:latin typeface="Arial"/>
              </a:rPr>
              <a:t>1.71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4956047"/>
            <a:ext cx="1088136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5C6068"/>
                </a:solidFill>
                <a:latin typeface="Arial"/>
              </a:rPr>
              <a:t>Fix C,R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Phân tích ảnh hưởng linh kiện đến tốc độ truyền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Kết quả ablation cho thấy không phải linh kiện nào cũng quan trọng như nhau.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54480"/>
          <a:ext cx="6812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760"/>
                <a:gridCol w="2270760"/>
                <a:gridCol w="2270760"/>
              </a:tblGrid>
              <a:tr h="579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Cấu hình tại d = 500 m</a:t>
                      </a:r>
                    </a:p>
                  </a:txBody>
                  <a:tcPr marL="54864" marR="54864" marT="27432" marB="27432">
                    <a:solidFill>
                      <a:srgbClr val="2D7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RSE (bit/s/Hz)</a:t>
                      </a:r>
                    </a:p>
                  </a:txBody>
                  <a:tcPr marL="54864" marR="54864" marT="27432" marB="27432">
                    <a:solidFill>
                      <a:srgbClr val="2D7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Diễn giải</a:t>
                      </a:r>
                    </a:p>
                  </a:txBody>
                  <a:tcPr marL="54864" marR="54864" marT="27432" marB="27432">
                    <a:solidFill>
                      <a:srgbClr val="2D7D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Tối ưu L1,L2,C,R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3.55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Mở đủ bậc tự do của mạch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Cố định 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3.46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Mất mát nhỏ, R chủ yếu gây suy hao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Cố định C,R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1.71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Mất mạnh khả năng điều chỉnh cộng hưởng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Chỉ tối ưu L1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1.35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Không đủ tự do điều chỉnh vn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Không IRS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0.15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212"/>
                          </a:solidFill>
                          <a:latin typeface="Arial"/>
                        </a:rPr>
                        <a:t>Mốc dưới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554480"/>
            <a:ext cx="3611880" cy="347472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874519"/>
            <a:ext cx="3017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Arial"/>
              </a:rPr>
              <a:t>Thông điệp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377440"/>
            <a:ext cx="2971800" cy="1828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0">
                <a:solidFill>
                  <a:srgbClr val="121212"/>
                </a:solidFill>
                <a:latin typeface="Arial"/>
              </a:rPr>
              <a:t>Cn ảnh hưởng trực tiếp tới phần dung kháng 1/(jωCn), nên quyết định mạnh tới cộng hưởng, pha phản xạ và hiệu năng tổng thể.</a:t>
            </a:r>
            <a:br/>
            <a:br/>
            <a:r>
              <a:rPr sz="1700" b="0">
                <a:solidFill>
                  <a:srgbClr val="121212"/>
                </a:solidFill>
                <a:latin typeface="Arial"/>
              </a:rPr>
              <a:t>Rn quan trọng cho suy hao, nhưng trong miền khảo sát việc cố định R gây giảm nhẹ hơn.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500" b="1">
                <a:solidFill>
                  <a:srgbClr val="121212"/>
                </a:solidFill>
                <a:latin typeface="Arial"/>
              </a:rPr>
              <a:t>Kết luận: tối ưu linh kiện làm rõ giới hạn phần cứng 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8288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5C6068"/>
                </a:solidFill>
                <a:latin typeface="Arial"/>
              </a:rPr>
              <a:t>Cách tiếp cận component-level liên kết trực tiếp thiết kế mạch với tốc độ truyền.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184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600200"/>
            <a:ext cx="1017727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0">
                <a:solidFill>
                  <a:srgbClr val="121212"/>
                </a:solidFill>
                <a:latin typeface="Arial"/>
              </a:rPr>
              <a:t>Biểu diễn nghiệm bằng vector [L1,n, L2,n, Cn, Rn] giúp nghiệm luôn gắn với linh kiện khả thi.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057400"/>
            <a:ext cx="1017727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0">
                <a:solidFill>
                  <a:srgbClr val="121212"/>
                </a:solidFill>
                <a:latin typeface="Arial"/>
              </a:rPr>
              <a:t>Chuỗi tính Zn → vn → RSE cho phép đánh giá đúng ảnh hưởng đồng thời của biên độ và pha.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514600"/>
            <a:ext cx="1017727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0">
                <a:solidFill>
                  <a:srgbClr val="121212"/>
                </a:solidFill>
                <a:latin typeface="Arial"/>
              </a:rPr>
              <a:t>GWO component-level đạt hiệu năng cao hơn PSO trong các kết quả chính, đổi lại thời gian chạy lớn hơn.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00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971800"/>
            <a:ext cx="1017727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0">
                <a:solidFill>
                  <a:srgbClr val="121212"/>
                </a:solidFill>
                <a:latin typeface="Arial"/>
              </a:rPr>
              <a:t>So với AO tối ưu pha theo mô hình tương đương, tối ưu linh kiện cho thấy rõ vai trò của Cn và các ràng buộc vật lý.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20116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1">
                <a:solidFill>
                  <a:srgbClr val="2D7DF6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429000"/>
            <a:ext cx="10177272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100" b="0">
                <a:solidFill>
                  <a:srgbClr val="121212"/>
                </a:solidFill>
                <a:latin typeface="Arial"/>
              </a:rPr>
              <a:t>Khi một số linh kiện bị cố định, hiệu năng giảm mạnh nhất nếu mất khả năng điều chỉnh Cn.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74920"/>
            <a:ext cx="10424160" cy="59436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9669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600" b="0">
                <a:solidFill>
                  <a:srgbClr val="5C6068"/>
                </a:solidFill>
                <a:latin typeface="Arial"/>
              </a:rPr>
              <a:t>Kết quả mô phỏng sử dụng 300 channel realizations cho mỗi điểm trên trục 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37376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5C606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